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2C52"/>
          </a:solidFill>
          <a:ln w="25400">
            <a:solidFill>
              <a:srgbClr val="1E3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3931920" cy="3931920"/>
          </a:xfrm>
          <a:prstGeom prst="ellipse">
            <a:avLst/>
          </a:prstGeom>
          <a:solidFill>
            <a:srgbClr val="0F1B35">
              <a:alpha val="80000"/>
            </a:srgbClr>
          </a:solidFill>
          <a:ln w="12700">
            <a:solidFill>
              <a:srgbClr val="243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2377440" cy="3200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MINING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 of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Sarcasm Detection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ML Ensemble  vs  DistilBERT Transformer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Headlines Dataset  |  News Feed Sarcasm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Presentation Covers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Literature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081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sarcasm detection and what has been done so far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8229600" cy="64008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56232"/>
            <a:ext cx="45720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562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892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671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pipelines: Stacked ML Ensemble and DistilBERT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15184"/>
            <a:ext cx="45720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151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926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performance comparison on real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8229600" cy="640080"/>
          </a:xfrm>
          <a:prstGeom prst="rect">
            <a:avLst/>
          </a:prstGeom>
          <a:solidFill>
            <a:srgbClr val="F0F6FA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74136"/>
            <a:ext cx="45720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741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10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6850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DistilBERT win? What did we learn?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33088"/>
            <a:ext cx="457200" cy="640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330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169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439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ideas for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Literature Review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Sarcasm?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the opposite of what you mean, usually to joke or criticise. Hard for machines because the literal words contradict the true intent.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3931920" cy="155448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 – Helal et al. (2024)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contextual info like article descriptions and author names boosted F1-score from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 → 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Field Has Evolved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3886200"/>
            <a:ext cx="2286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" y="39319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models looked at isolated text 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886200"/>
            <a:ext cx="2286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9464" y="39319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intent &amp; topic boosted accuracy significantly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886200"/>
            <a:ext cx="2286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39319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multiple classifiers improved robustness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3200400"/>
            <a:ext cx="1920240" cy="1554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291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67144" y="393192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RoBERTa, DistilBERT now lead the field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– Two Pipelines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 – Stacked 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109728" cy="109728"/>
          </a:xfrm>
          <a:prstGeom prst="ellipse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 engineering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09728" cy="109728"/>
          </a:xfrm>
          <a:prstGeom prst="ellipse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848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exclamation marks, ?, CAPS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968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 models: SVM, Naïve Bayes, Logistic Regression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109728" cy="109728"/>
          </a:xfrm>
          <a:prstGeom prst="ellipse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stacked → final meta-model decides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75888"/>
            <a:ext cx="109728" cy="109728"/>
          </a:xfrm>
          <a:prstGeom prst="ellipse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210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baseline, limited by surface-level clues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931920" cy="37033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069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B – DistilBERT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1627632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5727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transformer model (Helal et al.)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139696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0848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faster version of BERT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651760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25968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word order and full sentence meaning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163824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News Headlines dataset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675888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6210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subtle sarcasm signals automatically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0832" y="1371600"/>
            <a:ext cx="36576" cy="3108960"/>
          </a:xfrm>
          <a:prstGeom prst="rect">
            <a:avLst/>
          </a:prstGeom>
          <a:solidFill>
            <a:srgbClr val="CBD8E6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24528" y="2651760"/>
            <a:ext cx="329184" cy="32918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35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News Headlines Sarcasm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749040" cy="1371600"/>
          </a:xfrm>
          <a:prstGeom prst="rect">
            <a:avLst/>
          </a:prstGeom>
          <a:solidFill>
            <a:srgbClr val="1A2C52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Stacked 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B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80.3%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749040" cy="1371600"/>
          </a:xfrm>
          <a:prstGeom prst="rect">
            <a:avLst/>
          </a:prstGeom>
          <a:solidFill>
            <a:srgbClr val="007A70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DistilBERT 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92.7%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560320"/>
          <a:ext cx="6949440" cy="2331720"/>
        </p:xfrm>
        <a:graphic>
          <a:graphicData uri="http://schemas.openxmlformats.org/drawingml/2006/table">
            <a:tbl>
              <a:tblPr/>
              <a:tblGrid>
                <a:gridCol w="2286000"/>
                <a:gridCol w="2331720"/>
                <a:gridCol w="2331720"/>
              </a:tblGrid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BF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BF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BF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BFD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– Why DistilBERT Won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09728" cy="10972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Understands Meaning, Not Just Signals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Stacked model counted punctuation like ! and ? as sarcasm hints. DistilBERT reads the whole sentence and grasps actual meaning — a much harder and more useful trick.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109728" cy="1097280"/>
          </a:xfrm>
          <a:prstGeom prst="rect">
            <a:avLst/>
          </a:prstGeom>
          <a:solidFill>
            <a:srgbClr val="1A2C52"/>
          </a:solidFill>
          <a:ln w="12700">
            <a:solidFill>
              <a:srgbClr val="1A2C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Across the Full Sentence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5234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process text mostly in isolation. DistilBERT sees every word in relation to every other word, so subtle irony that spans the sentence is not missed.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66160"/>
            <a:ext cx="109728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576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 Without Sacrificing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is a lighter, faster version of BERT — 40% fewer parameters — yet it retained ~97% of BERT's performance, making it practical for real-world use.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12.4 percentage point accuracy gap clearly shows that pre-trained contextual models are the way forward for NLP classification tasks.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2011680" cy="5486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81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(92.7%) massively outperformed Stacked ML (80.3%)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understands context; traditional ML only sees surface clues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09728" cy="10972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87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transformers are currently the best approach for sarcasm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051560"/>
            <a:ext cx="36576" cy="3291840"/>
          </a:xfrm>
          <a:prstGeom prst="rect">
            <a:avLst/>
          </a:prstGeom>
          <a:solidFill>
            <a:srgbClr val="2A3F6A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4813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author names and article categories as extra context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05740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RoBERTa or GPT-based models for further gains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4871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multi-domain datasets (Twitter, Reddit)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990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multimodal sarcasm (text + tone + emoji)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97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|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Sarcasm Detection - Comparative Analysis</dc:title>
  <dc:subject>PptxGenJS Presentation</dc:subject>
  <dc:creator>PptxGenJS</dc:creator>
  <cp:lastModifiedBy>PptxGenJS</cp:lastModifiedBy>
  <cp:revision>1</cp:revision>
  <dcterms:created xsi:type="dcterms:W3CDTF">2026-04-15T01:49:41Z</dcterms:created>
  <dcterms:modified xsi:type="dcterms:W3CDTF">2026-04-15T01:49:41Z</dcterms:modified>
</cp:coreProperties>
</file>